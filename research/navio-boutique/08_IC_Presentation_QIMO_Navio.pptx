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cee274d-0a6b-9f8e-fc0b-3d443e8df9af}">
          <p14:sldIdLst>
            <p14:sldId id="256"/>
            <p14:sldId id="257"/>
          </p14:sldIdLst>
        </p14:section>
        <p14:section name="Contexto" id="{d70e8a3f-d7a2-f9f5-d169-966308de50d5}">
          <p14:sldIdLst>
            <p14:sldId id="258"/>
            <p14:sldId id="259"/>
          </p14:sldIdLst>
        </p14:section>
        <p14:section name="Análise" id="{0ff7aed6-4ee9-123c-fa13-f883eab38673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Financeiro" id="{7f252503-dd66-4d2d-b7a7-23f106c86094}">
          <p14:sldIdLst>
            <p14:sldId id="268"/>
            <p14:sldId id="269"/>
            <p14:sldId id="270"/>
          </p14:sldIdLst>
        </p14:section>
        <p14:section name="Decisão" id="{0f170352-2d11-bec8-7c30-01189a3cdcfc}">
          <p14:sldIdLst>
            <p14:sldId id="271"/>
            <p14:sldId id="272"/>
            <p14:sldId id="273"/>
            <p14:sldId id="274"/>
          </p14:sldIdLst>
        </p14:section>
        <p14:section name="Recomendação" id="{2b0efc69-2024-036d-f25e-83af35cb03dc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Break-even EBITDA (semanas)</c:v>
                </c:pt>
              </c:strCache>
            </c:strRef>
          </c:tx>
          <c:spPr>
            <a:solidFill>
              <a:srgbClr val="9DB8B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 · 36 pax usado</c:v>
                  </c:pt>
                  <c:pt idx="1">
                    <c:v>A · 40 pax novo</c:v>
                  </c:pt>
                  <c:pt idx="2">
                    <c:v>B · 48 pax usado</c:v>
                  </c:pt>
                  <c:pt idx="3">
                    <c:v>B · 48 pax novo</c:v>
                  </c:pt>
                  <c:pt idx="4">
                    <c:v>C · 72 pax usado</c:v>
                  </c:pt>
                  <c:pt idx="5">
                    <c:v>C · 72 pax novo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31.3</c:v>
                </c:pt>
                <c:pt idx="1">
                  <c:v>27.5</c:v>
                </c:pt>
                <c:pt idx="2">
                  <c:v>24.9</c:v>
                </c:pt>
                <c:pt idx="3">
                  <c:v>21.4</c:v>
                </c:pt>
                <c:pt idx="4">
                  <c:v>18.3</c:v>
                </c:pt>
                <c:pt idx="5">
                  <c:v>15.8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Semanas p/ possuir = fretar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 · 36 pax usado</c:v>
                  </c:pt>
                  <c:pt idx="1">
                    <c:v>A · 40 pax novo</c:v>
                  </c:pt>
                  <c:pt idx="2">
                    <c:v>B · 48 pax usado</c:v>
                  </c:pt>
                  <c:pt idx="3">
                    <c:v>B · 48 pax novo</c:v>
                  </c:pt>
                  <c:pt idx="4">
                    <c:v>C · 72 pax usado</c:v>
                  </c:pt>
                  <c:pt idx="5">
                    <c:v>C · 72 pax novo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49.6</c:v>
                </c:pt>
                <c:pt idx="1">
                  <c:v>70</c:v>
                </c:pt>
                <c:pt idx="2">
                  <c:v>38.3</c:v>
                </c:pt>
                <c:pt idx="3">
                  <c:v>53.9</c:v>
                </c:pt>
                <c:pt idx="4">
                  <c:v>32</c:v>
                </c:pt>
                <c:pt idx="5">
                  <c:v>41.7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b"/>
        <c:majorGridlines>
          <c:spPr>
            <a:ln w="6350" cap="flat">
              <a:solidFill>
                <a:srgbClr val="E3E9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0"/>
                </a:solidFill>
                <a:latin typeface="+mn-lt"/>
              </a:rPr>
              <a:t>Custo por semana, cenário Base (€ mil)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Tarifa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72 pax (Voyager)</c:v>
                  </c:pt>
                  <c:pt idx="1">
                    <c:v>48–49 pax (Galileo)</c:v>
                  </c:pt>
                  <c:pt idx="2">
                    <c:v>36–40 pax (Croácia)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</c:v>
                </c:pt>
                <c:pt idx="1">
                  <c:v>135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APA + IVA</c:v>
                </c:pt>
              </c:strCache>
            </c:strRef>
          </c:tx>
          <c:spPr>
            <a:solidFill>
              <a:srgbClr val="5E8C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72 pax (Voyager)</c:v>
                  </c:pt>
                  <c:pt idx="1">
                    <c:v>48–49 pax (Galileo)</c:v>
                  </c:pt>
                  <c:pt idx="2">
                    <c:v>36–40 pax (Croácia)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123</c:v>
                </c:pt>
                <c:pt idx="1">
                  <c:v>59</c:v>
                </c:pt>
                <c:pt idx="2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Gorjetas + excursões</c:v>
                </c:pt>
              </c:strCache>
            </c:strRef>
          </c:tx>
          <c:spPr>
            <a:solidFill>
              <a:srgbClr val="B897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72 pax (Voyager)</c:v>
                  </c:pt>
                  <c:pt idx="1">
                    <c:v>48–49 pax (Galileo)</c:v>
                  </c:pt>
                  <c:pt idx="2">
                    <c:v>36–40 pax (Croácia)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60</c:v>
                </c:pt>
                <c:pt idx="1">
                  <c:v>36</c:v>
                </c:pt>
                <c:pt idx="2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0"/>
                </a:solidFill>
                <a:latin typeface="+mn-lt"/>
              </a:rPr>
              <a:t>Turquia, 72 pax, até a operação (€ 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total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€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Premium funcional</c:v>
                  </c:pt>
                  <c:pt idx="1">
                    <c:v>Luxury boutique</c:v>
                  </c:pt>
                  <c:pt idx="2">
                    <c:v>Ultra-luxury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34.2</c:v>
                </c:pt>
                <c:pt idx="1">
                  <c:v>47.7</c:v>
                </c:pt>
                <c:pt idx="2">
                  <c:v>70.5</c:v>
                </c:pt>
              </c:numCache>
            </c:numRef>
          </c:val>
        </c:ser>
        <c:dLbls>
          <c:numFmt formatCode="€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9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0"/>
                </a:solidFill>
                <a:latin typeface="+mn-lt"/>
              </a:rPr>
              <a:t>Luxury boutique: ponto médio da faixa por região (€ 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Luxury boutique por região</c:v>
                </c:pt>
              </c:strCache>
            </c:strRef>
          </c:tx>
          <c:spPr>
            <a:solidFill>
              <a:srgbClr val="5E8C96"/>
            </a:solidFill>
            <a:effectLst/>
          </c:spPr>
          <c:invertIfNegative val="0"/>
          <c:dLbls>
            <c:numFmt formatCode="€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Turquia</c:v>
                  </c:pt>
                  <c:pt idx="1">
                    <c:v>Vietnã/China*</c:v>
                  </c:pt>
                  <c:pt idx="2">
                    <c:v>Croácia/Grécia</c:v>
                  </c:pt>
                  <c:pt idx="3">
                    <c:v>Espanha/Portugal</c:v>
                  </c:pt>
                  <c:pt idx="4">
                    <c:v>Itália</c:v>
                  </c:pt>
                  <c:pt idx="5">
                    <c:v>Holanda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46.1</c:v>
                </c:pt>
                <c:pt idx="1">
                  <c:v>43</c:v>
                </c:pt>
                <c:pt idx="2">
                  <c:v>52.5</c:v>
                </c:pt>
                <c:pt idx="3">
                  <c:v>54.1</c:v>
                </c:pt>
                <c:pt idx="4">
                  <c:v>63.6</c:v>
                </c:pt>
                <c:pt idx="5">
                  <c:v>63.6</c:v>
                </c:pt>
              </c:numCache>
            </c:numRef>
          </c:val>
        </c:ser>
        <c:dLbls>
          <c:numFmt formatCode="€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3E9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0"/>
                </a:solidFill>
                <a:latin typeface="+mn-lt"/>
              </a:rPr>
              <a:t>OPEX fixo: €3,45 M/ano (72 pax usado)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Fixo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C49"/>
              </a:solidFill>
              <a:effectLst/>
            </c:spPr>
          </c:dPt>
          <c:dPt>
            <c:idx val="1"/>
            <c:bubble3D val="0"/>
            <c:spPr>
              <a:solidFill>
                <a:srgbClr val="5E8C96"/>
              </a:solidFill>
              <a:effectLst/>
            </c:spPr>
          </c:dPt>
          <c:dPt>
            <c:idx val="2"/>
            <c:bubble3D val="0"/>
            <c:spPr>
              <a:solidFill>
                <a:srgbClr val="9DB8BE"/>
              </a:solidFill>
              <a:effectLst/>
            </c:spPr>
          </c:dPt>
          <c:dPt>
            <c:idx val="3"/>
            <c:bubble3D val="0"/>
            <c:spPr>
              <a:solidFill>
                <a:srgbClr val="B8975A"/>
              </a:solidFill>
              <a:effectLst/>
            </c:spPr>
          </c:dPt>
          <c:dPt>
            <c:idx val="4"/>
            <c:bubble3D val="0"/>
            <c:spPr>
              <a:solidFill>
                <a:srgbClr val="2E6B5E"/>
              </a:solidFill>
              <a:effectLst/>
            </c:spPr>
          </c:dPt>
          <c:dPt>
            <c:idx val="5"/>
            <c:bubble3D val="0"/>
            <c:spPr>
              <a:solidFill>
                <a:srgbClr val="C9D5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Tripulação</c:v>
                </c:pt>
                <c:pt idx="1">
                  <c:v>Manutenção</c:v>
                </c:pt>
                <c:pt idx="2">
                  <c:v>Gestão técnica/ISM</c:v>
                </c:pt>
                <c:pt idx="3">
                  <c:v>Seguros (H&amp;M + P&amp;I)</c:v>
                </c:pt>
                <c:pt idx="4">
                  <c:v>G&amp;A + marketing</c:v>
                </c:pt>
                <c:pt idx="5">
                  <c:v>Outros (hibernação, TI, licenças, FF&amp;E)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1588</c:v>
                </c:pt>
                <c:pt idx="1">
                  <c:v>700</c:v>
                </c:pt>
                <c:pt idx="2">
                  <c:v>280</c:v>
                </c:pt>
                <c:pt idx="3">
                  <c:v>296</c:v>
                </c:pt>
                <c:pt idx="4">
                  <c:v>270</c:v>
                </c:pt>
                <c:pt idx="5">
                  <c:v>320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0"/>
                </a:solidFill>
                <a:latin typeface="+mn-lt"/>
              </a:rPr>
              <a:t>Receita ano 3, Base (€ 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QIMO (8 sem.)</c:v>
                </c:pt>
              </c:strCache>
            </c:strRef>
          </c:tx>
          <c:spPr>
            <a:solidFill>
              <a:srgbClr val="0B3C4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Usado 72 pax</c:v>
                  </c:pt>
                  <c:pt idx="1">
                    <c:v>Novo 72 pax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2.27</c:v>
                </c:pt>
                <c:pt idx="1">
                  <c:v>2.52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Charter terceiros (14 sem.)</c:v>
                </c:pt>
              </c:strCache>
            </c:strRef>
          </c:tx>
          <c:spPr>
            <a:solidFill>
              <a:srgbClr val="5E8C9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Usado 72 pax</c:v>
                  </c:pt>
                  <c:pt idx="1">
                    <c:v>Novo 72 pax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3.38</c:v>
                </c:pt>
                <c:pt idx="1">
                  <c:v>3.75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Cabines (4 sem.)</c:v>
                </c:pt>
              </c:strCache>
            </c:strRef>
          </c:tx>
          <c:spPr>
            <a:solidFill>
              <a:srgbClr val="B8975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Usado 72 pax</c:v>
                  </c:pt>
                  <c:pt idx="1">
                    <c:v>Novo 72 pax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0.83</c:v>
                </c:pt>
                <c:pt idx="1">
                  <c:v>0.93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 bordo</c:v>
                </c:pt>
              </c:strCache>
            </c:strRef>
          </c:tx>
          <c:spPr>
            <a:solidFill>
              <a:srgbClr val="9DB8B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Usado 72 pax</c:v>
                  </c:pt>
                  <c:pt idx="1">
                    <c:v>Novo 72 pax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0.27</c:v>
                </c:pt>
                <c:pt idx="1">
                  <c:v>0.27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0"/>
                </a:solidFill>
                <a:latin typeface="+mn-lt"/>
              </a:rPr>
              <a:t>EBITDA anual (€ M) por semanas operadas, Base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Usado 72 pax</c:v>
                </c:pt>
              </c:strCache>
            </c:strRef>
          </c:tx>
          <c:spPr>
            <a:solidFill>
              <a:srgbClr val="0B3C49"/>
            </a:solidFill>
            <a:ln w="38100" cap="flat">
              <a:solidFill>
                <a:srgbClr val="0B3C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B3C49"/>
              </a:solidFill>
              <a:ln w="9525" cap="flat">
                <a:solidFill>
                  <a:srgbClr val="0B3C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15</c:v>
                  </c:pt>
                  <c:pt idx="2">
                    <c:v>20</c:v>
                  </c:pt>
                  <c:pt idx="3">
                    <c:v>25</c:v>
                  </c:pt>
                  <c:pt idx="4">
                    <c:v>30</c:v>
                  </c:pt>
                  <c:pt idx="5">
                    <c:v>35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-1.35</c:v>
                </c:pt>
                <c:pt idx="1">
                  <c:v>-0.5</c:v>
                </c:pt>
                <c:pt idx="2">
                  <c:v>0.42</c:v>
                </c:pt>
                <c:pt idx="3">
                  <c:v>1.34</c:v>
                </c:pt>
                <c:pt idx="4">
                  <c:v>2.26</c:v>
                </c:pt>
                <c:pt idx="5">
                  <c:v>3.18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Novo 72 pax</c:v>
                </c:pt>
              </c:strCache>
            </c:strRef>
          </c:tx>
          <c:spPr>
            <a:solidFill>
              <a:srgbClr val="B8975A"/>
            </a:solidFill>
            <a:ln w="38100" cap="flat">
              <a:solidFill>
                <a:srgbClr val="B897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8975A"/>
              </a:solidFill>
              <a:ln w="9525" cap="flat">
                <a:solidFill>
                  <a:srgbClr val="B897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15</c:v>
                  </c:pt>
                  <c:pt idx="2">
                    <c:v>20</c:v>
                  </c:pt>
                  <c:pt idx="3">
                    <c:v>25</c:v>
                  </c:pt>
                  <c:pt idx="4">
                    <c:v>30</c:v>
                  </c:pt>
                  <c:pt idx="5">
                    <c:v>35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-1.01</c:v>
                </c:pt>
                <c:pt idx="1">
                  <c:v>-0.03</c:v>
                </c:pt>
                <c:pt idx="2">
                  <c:v>1.02</c:v>
                </c:pt>
                <c:pt idx="3">
                  <c:v>2.06</c:v>
                </c:pt>
                <c:pt idx="4">
                  <c:v>3.11</c:v>
                </c:pt>
                <c:pt idx="5">
                  <c:v>4.16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Usado 48 pax</c:v>
                </c:pt>
              </c:strCache>
            </c:strRef>
          </c:tx>
          <c:spPr>
            <a:solidFill>
              <a:srgbClr val="5E8C96"/>
            </a:solidFill>
            <a:ln w="38100" cap="flat">
              <a:solidFill>
                <a:srgbClr val="5E8C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E8C96"/>
              </a:solidFill>
              <a:ln w="9525" cap="flat">
                <a:solidFill>
                  <a:srgbClr val="5E8C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15</c:v>
                  </c:pt>
                  <c:pt idx="2">
                    <c:v>20</c:v>
                  </c:pt>
                  <c:pt idx="3">
                    <c:v>25</c:v>
                  </c:pt>
                  <c:pt idx="4">
                    <c:v>30</c:v>
                  </c:pt>
                  <c:pt idx="5">
                    <c:v>35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-1.38</c:v>
                </c:pt>
                <c:pt idx="1">
                  <c:v>-0.91</c:v>
                </c:pt>
                <c:pt idx="2">
                  <c:v>-0.43</c:v>
                </c:pt>
                <c:pt idx="3">
                  <c:v>0.05</c:v>
                </c:pt>
                <c:pt idx="4">
                  <c:v>0.53</c:v>
                </c:pt>
                <c:pt idx="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5555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5555B"/>
                    </a:solidFill>
                    <a:latin typeface="Arial"/>
                  </a:rPr>
                  <a:t>semanas/ano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0"/>
                </a:solidFill>
                <a:latin typeface="+mn-lt"/>
              </a:rPr>
              <a:t>€ mil por semana (OPEX + custo de capital) ÷ semanas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próprio/semana: usado 72 pax</c:v>
                </c:pt>
              </c:strCache>
            </c:strRef>
          </c:tx>
          <c:spPr>
            <a:solidFill>
              <a:srgbClr val="0B3C49"/>
            </a:solidFill>
            <a:ln w="38100" cap="flat">
              <a:solidFill>
                <a:srgbClr val="0B3C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3C49"/>
              </a:solidFill>
              <a:ln w="9525" cap="flat">
                <a:solidFill>
                  <a:srgbClr val="0B3C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15</c:v>
                  </c:pt>
                  <c:pt idx="2">
                    <c:v>20</c:v>
                  </c:pt>
                  <c:pt idx="3">
                    <c:v>25</c:v>
                  </c:pt>
                  <c:pt idx="4">
                    <c:v>30</c:v>
                  </c:pt>
                  <c:pt idx="5">
                    <c:v>35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742</c:v>
                </c:pt>
                <c:pt idx="1">
                  <c:v>513</c:v>
                </c:pt>
                <c:pt idx="2">
                  <c:v>399</c:v>
                </c:pt>
                <c:pt idx="3">
                  <c:v>330</c:v>
                </c:pt>
                <c:pt idx="4">
                  <c:v>284</c:v>
                </c:pt>
                <c:pt idx="5">
                  <c:v>252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 próprio/semana: novo 72 pax</c:v>
                </c:pt>
              </c:strCache>
            </c:strRef>
          </c:tx>
          <c:spPr>
            <a:solidFill>
              <a:srgbClr val="B8975A"/>
            </a:solidFill>
            <a:ln w="38100" cap="flat">
              <a:solidFill>
                <a:srgbClr val="B897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975A"/>
              </a:solidFill>
              <a:ln w="9525" cap="flat">
                <a:solidFill>
                  <a:srgbClr val="B897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15</c:v>
                  </c:pt>
                  <c:pt idx="2">
                    <c:v>20</c:v>
                  </c:pt>
                  <c:pt idx="3">
                    <c:v>25</c:v>
                  </c:pt>
                  <c:pt idx="4">
                    <c:v>30</c:v>
                  </c:pt>
                  <c:pt idx="5">
                    <c:v>35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1075</c:v>
                </c:pt>
                <c:pt idx="1">
                  <c:v>735</c:v>
                </c:pt>
                <c:pt idx="2">
                  <c:v>565</c:v>
                </c:pt>
                <c:pt idx="3">
                  <c:v>463</c:v>
                </c:pt>
                <c:pt idx="4">
                  <c:v>395</c:v>
                </c:pt>
                <c:pt idx="5">
                  <c:v>347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Tarifa de charter (€270–300 k)</c:v>
                </c:pt>
              </c:strCache>
            </c:strRef>
          </c:tx>
          <c:spPr>
            <a:solidFill>
              <a:srgbClr val="C0503A"/>
            </a:solidFill>
            <a:ln w="38100" cap="flat">
              <a:solidFill>
                <a:srgbClr val="C05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3A"/>
              </a:solidFill>
              <a:ln w="9525" cap="flat">
                <a:solidFill>
                  <a:srgbClr val="C05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</c:v>
                  </c:pt>
                  <c:pt idx="1">
                    <c:v>15</c:v>
                  </c:pt>
                  <c:pt idx="2">
                    <c:v>20</c:v>
                  </c:pt>
                  <c:pt idx="3">
                    <c:v>25</c:v>
                  </c:pt>
                  <c:pt idx="4">
                    <c:v>30</c:v>
                  </c:pt>
                  <c:pt idx="5">
                    <c:v>35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285</c:v>
                </c:pt>
                <c:pt idx="1">
                  <c:v>285</c:v>
                </c:pt>
                <c:pt idx="2">
                  <c:v>285</c:v>
                </c:pt>
                <c:pt idx="3">
                  <c:v>285</c:v>
                </c:pt>
                <c:pt idx="4">
                  <c:v>285</c:v>
                </c:pt>
                <c:pt idx="5">
                  <c:v>285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</c:scaling>
        <c:delete val="0"/>
        <c:axPos val="l"/>
        <c:majorGridlines>
          <c:spPr>
            <a:ln w="6350" cap="flat">
              <a:solidFill>
                <a:srgbClr val="E3E9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0"/>
                </a:solidFill>
                <a:latin typeface="+mn-lt"/>
              </a:rPr>
              <a:t>Ano 0: −€21,4 M de CAPEX · Ano 10: residual de €10,7 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FCL (€ M)</c:v>
                </c:pt>
              </c:strCache>
            </c:strRef>
          </c:tx>
          <c:spPr>
            <a:solidFill>
              <a:srgbClr val="5E8C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-21.4</c:v>
                </c:pt>
                <c:pt idx="1">
                  <c:v>0.59</c:v>
                </c:pt>
                <c:pt idx="2">
                  <c:v>1.16</c:v>
                </c:pt>
                <c:pt idx="3">
                  <c:v>0.68</c:v>
                </c:pt>
                <c:pt idx="4">
                  <c:v>1.16</c:v>
                </c:pt>
                <c:pt idx="5">
                  <c:v>0.04</c:v>
                </c:pt>
                <c:pt idx="6">
                  <c:v>0.17</c:v>
                </c:pt>
                <c:pt idx="7">
                  <c:v>1.16</c:v>
                </c:pt>
                <c:pt idx="8">
                  <c:v>0.55</c:v>
                </c:pt>
                <c:pt idx="9">
                  <c:v>1.16</c:v>
                </c:pt>
                <c:pt idx="10">
                  <c:v>10.43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EBITDA (€ M)</c:v>
                </c:pt>
              </c:strCache>
            </c:strRef>
          </c:tx>
          <c:spPr>
            <a:solidFill>
              <a:srgbClr val="0B3C49"/>
            </a:solidFill>
            <a:ln w="38100" cap="flat">
              <a:solidFill>
                <a:srgbClr val="0B3C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3C49"/>
              </a:solidFill>
              <a:ln w="9525" cap="flat">
                <a:solidFill>
                  <a:srgbClr val="0B3C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0.81</c:v>
                </c:pt>
                <c:pt idx="2">
                  <c:v>1.54</c:v>
                </c:pt>
                <c:pt idx="3">
                  <c:v>1.55</c:v>
                </c:pt>
                <c:pt idx="4">
                  <c:v>1.56</c:v>
                </c:pt>
                <c:pt idx="5">
                  <c:v>1.58</c:v>
                </c:pt>
                <c:pt idx="6">
                  <c:v>1.59</c:v>
                </c:pt>
                <c:pt idx="7">
                  <c:v>1.6</c:v>
                </c:pt>
                <c:pt idx="8">
                  <c:v>1.61</c:v>
                </c:pt>
                <c:pt idx="9">
                  <c:v>1.62</c:v>
                </c:pt>
                <c:pt idx="10">
                  <c:v>1.63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A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5555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Documento para decisão dos sócios. A resposta vem no próximo slide; o restante sustenta os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do cenário Base. Usado 72 pax = ESTIMATIVA (não há anúncio de 72 pax). Novo = luxury boutique, Turquia, até 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080760"/>
            <a:ext cx="1143000" cy="4389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B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QIMO · Navio boutique próprio · Investment Committee · Out/2026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B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B8975A"/>
                </a:solidFill>
              </a:rPr>
              <a:t>Investment Committee · Outubro de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Navio boutique próprio QIMO?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8EA"/>
                </a:solidFill>
              </a:rPr>
              <a:t>Comprar usado × Construir novo × Continuar fretando · Grécia e Mediterrâneo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8BE"/>
                </a:solidFill>
              </a:rPr>
              <a:t>Boutique cruise yacht de 36 cabines / 72 hóspedes inspirado no Variety Voyager · Modelo financeiro de 10 anos · 6 opções × 3 cenários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B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5A"/>
                </a:solidFill>
              </a:rPr>
              <a:t>Devemos investir em um navio próprio?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agora: continuar fretando. Comprar usado só a ≤ €11,5 M; não construir</a:t>
            </a:r>
            <a:endParaRPr lang="en-US" sz="3000" dirty="0"/>
          </a:p>
        </p:txBody>
      </p:sp>
      <p:sp>
        <p:nvSpPr>
          <p:cNvPr id="4" name="AnswerCard"/>
          <p:cNvSpPr/>
          <p:nvPr/>
        </p:nvSpPr>
        <p:spPr>
          <a:xfrm>
            <a:off x="548640" y="21488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34A58"/>
          </a:solidFill>
          <a:ln w="12700">
            <a:solidFill>
              <a:srgbClr val="134A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€21,4 M /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€47,7 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200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8BE"/>
                </a:solidFill>
              </a:rPr>
              <a:t>Investimento: usado 72 pax / novo 72 pax</a:t>
            </a:r>
            <a:endParaRPr lang="en-US" sz="1200" dirty="0"/>
          </a:p>
        </p:txBody>
      </p:sp>
      <p:sp>
        <p:nvSpPr>
          <p:cNvPr id="7" name="AnswerCard"/>
          <p:cNvSpPr/>
          <p:nvPr/>
        </p:nvSpPr>
        <p:spPr>
          <a:xfrm>
            <a:off x="2816352" y="21488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34A58"/>
          </a:solidFill>
          <a:ln w="12700">
            <a:solidFill>
              <a:srgbClr val="134A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53512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€1,6 M / €2,3 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3200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8BE"/>
                </a:solidFill>
              </a:rPr>
              <a:t>EBITDA ano 3 (Base, 26 semanas)</a:t>
            </a:r>
            <a:endParaRPr lang="en-US" sz="1200" dirty="0"/>
          </a:p>
        </p:txBody>
      </p:sp>
      <p:sp>
        <p:nvSpPr>
          <p:cNvPr id="10" name="AnswerCard"/>
          <p:cNvSpPr/>
          <p:nvPr/>
        </p:nvSpPr>
        <p:spPr>
          <a:xfrm>
            <a:off x="5084064" y="21488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34A58"/>
          </a:solidFill>
          <a:ln w="12700">
            <a:solidFill>
              <a:srgbClr val="134A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21224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−2,7% / −1,7%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21224" y="3200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8BE"/>
                </a:solidFill>
              </a:rPr>
              <a:t>TIR 10 anos (hurdle de 10%)</a:t>
            </a:r>
            <a:endParaRPr lang="en-US" sz="1200" dirty="0"/>
          </a:p>
        </p:txBody>
      </p:sp>
      <p:sp>
        <p:nvSpPr>
          <p:cNvPr id="13" name="AnswerCard"/>
          <p:cNvSpPr/>
          <p:nvPr/>
        </p:nvSpPr>
        <p:spPr>
          <a:xfrm>
            <a:off x="7351776" y="21488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34A58"/>
          </a:solidFill>
          <a:ln w="12700">
            <a:solidFill>
              <a:srgbClr val="134A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88936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10 anos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488936" y="3200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8BE"/>
                </a:solidFill>
              </a:rPr>
              <a:t>Payback (Base)</a:t>
            </a:r>
            <a:endParaRPr lang="en-US" sz="1200" dirty="0"/>
          </a:p>
        </p:txBody>
      </p:sp>
      <p:sp>
        <p:nvSpPr>
          <p:cNvPr id="16" name="AnswerCard"/>
          <p:cNvSpPr/>
          <p:nvPr/>
        </p:nvSpPr>
        <p:spPr>
          <a:xfrm>
            <a:off x="9619488" y="2148840"/>
            <a:ext cx="2103120" cy="1828800"/>
          </a:xfrm>
          <a:prstGeom prst="roundRect">
            <a:avLst>
              <a:gd name="adj" fmla="val 4000"/>
            </a:avLst>
          </a:prstGeom>
          <a:solidFill>
            <a:srgbClr val="134A58"/>
          </a:solidFill>
          <a:ln w="12700">
            <a:solidFill>
              <a:srgbClr val="134A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56648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/ 42 sem.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756648" y="3200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B8BE"/>
                </a:solidFill>
              </a:rPr>
              <a:t>Semanas/ano para possuir = fretar (temporada Med: 28–30)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51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75A"/>
                </a:solidFill>
              </a:rPr>
              <a:t>Principal risco: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utilização. Possuir só bate o charter acima de 32 semanas/ano (usado) ou 42 (novo), acima da temporada mediterrânea inteira. Cada semana não vendida custa €215–245 k de margem.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75A"/>
                </a:solidFill>
              </a:rPr>
              <a:t>Recomendação: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CONTINUE CHARTERING com estratégia gradual: bloco plurianual de semanas (2028–29) e compra oportunista de usado com gatilhos objetivos.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B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modelos, seis navios, três cenários: tudo comparado contra o preço real do charter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Comprar usado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0"/>
                </a:solidFill>
              </a:rPr>
              <a:t>12 anúncios reais pesquisados. Casos: 72 pax (estimativa), 48 pax (#1048634, €7,0 M) e 36 pax (#1091239, €8,3 M)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novo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402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0"/>
                </a:solidFill>
              </a:rPr>
              <a:t>3 padrões (Premium funcional, Luxury boutique, Ultra-luxury), 6 regiões, 12 estaleiros. Caso-base: Luxury boutique na Turquia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554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Continuar fretando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2402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0"/>
                </a:solidFill>
              </a:rPr>
              <a:t>Tarifas reais de full charter: Variety Voyager €248–342 k/semana; Galileo/Harmony €92–173 k; Croácia €76–98 k</a:t>
            </a:r>
            <a:endParaRPr lang="en-US" sz="1400" dirty="0"/>
          </a:p>
        </p:txBody>
      </p:sp>
      <p:graphicFrame>
        <p:nvGraphicFramePr>
          <p:cNvPr id="4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64240" cy="914400"/>
        </p:xfrm>
        <a:graphic>
          <a:graphicData uri="http://schemas.openxmlformats.org/drawingml/2006/table">
            <a:tbl>
              <a:tblPr/>
              <a:tblGrid>
                <a:gridCol w="1580606"/>
                <a:gridCol w="1580606"/>
                <a:gridCol w="1580606"/>
                <a:gridCol w="1580606"/>
                <a:gridCol w="1580606"/>
                <a:gridCol w="1580606"/>
                <a:gridCol w="1580606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Semanas/ano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QIMO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MGO (US$/t)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novo / usado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×0,90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×1,10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 / 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 / 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×1,10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×0,95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 / 60%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19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0"/>
                </a:solidFill>
              </a:rPr>
              <a:t>Hurdle de 10% em €; imposto de 34% (CFC Brasil); câmbio €1 = US$1,15 = R$5,85. Rótulos CONFIRMADO / ESTIMATIVA / PREMISSA em todos os documentos.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Variety Voyager prova o conceito, mas foi construído por €29 M em 2012 e a Variety opera ativos depreciados</a:t>
            </a:r>
            <a:endParaRPr lang="en-US" sz="2600" dirty="0"/>
          </a:p>
        </p:txBody>
      </p:sp>
      <p:graphicFrame>
        <p:nvGraphicFramePr>
          <p:cNvPr id="5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Variety Voyager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Rótulo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2012, Perama (Grécia)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€29 M (€403 k/leito); ≈ €38–42 M hoje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 / ESTIM.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 m · 1.561–1.593 GT · 13 nós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cabines · 72 hóspedes · 29–32 tripulantes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charter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€247.650–342.000 por semana + APA/IVA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partir de US$4.250 por pax (out/2026)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3716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0" y="15544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975A"/>
                </a:solidFill>
              </a:rPr>
              <a:t>Por que importa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preço de mercado do charter é definido por operadores com navios pagos há 10–30 anos, tripulação grega e escala de 8 navios. É contra essa régua que o navio próprio da QIMO compete.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44805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Concorrência nova: Blue Zephyr (ex-Caledonian Sky, 114 pax) faz cruzeiros boutique nas ilhas gregas desde abr/2026, a partir de €3.050/pax.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cabines / 72 pax é o tamanho mais eficiente: menor break-even e menor ponto de cruzamento com o charter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371600"/>
            <a:ext cx="3840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Leitura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0"/>
                </a:solidFill>
              </a:rPr>
              <a:t>A tarifa cresce com os leitos; o custo fixo, não. Comandante, chefe de máquinas, hotel manager, chef, P&amp;I, classe e gestão existem em qualquer tamanho.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0"/>
                </a:solidFill>
              </a:rPr>
              <a:t>OPEX fixo: €2,1 M (A) · €2,5 M (B) · €3,4 M (C), para tarifas de €105 k · €150 k · €270–300 k por semana.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A30"/>
                </a:solidFill>
              </a:rPr>
              <a:t>A configuração B (≤ 49 pax) só melhora se o regime grego de iate profissional reduzir tripulação e certificação (a validar).</a:t>
            </a:r>
            <a:endParaRPr lang="en-US" sz="1600" dirty="0"/>
          </a:p>
        </p:txBody>
      </p:sp>
      <p:sp>
        <p:nvSpPr>
          <p:cNvPr id="5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0"/>
                </a:solidFill>
              </a:rPr>
              <a:t>Fonte: modelo financeiro, cenário Base. A temporada do Mediterrâneo tem 28–30 semanas.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Fretar um navio de 72 pax custa €464 k por semana com tudo, ou €6,4 k por passageiro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8229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pax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por pax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pax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€464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€6,4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€5,5 k–€8,5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48–49 pax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€230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€4,7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€3,1 k–€6,6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36–40 pax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€163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€4,5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€3,5 k–€6,2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589520" y="329184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30"/>
                </a:solidFill>
              </a:rPr>
              <a:t>APA de 30–35% (bebidas, combustível extra, taxas portuárias) · IVA na Grécia de 12% · gorjetas de 10% · excursões de €90/pax/dia (estimativa). Na comparação com navio próprio, conta apenas a tarifa: o resto existe nos dois modelos.</a:t>
            </a:r>
            <a:endParaRPr lang="en-US" sz="1300" dirty="0"/>
          </a:p>
        </p:txBody>
      </p:sp>
      <p:sp>
        <p:nvSpPr>
          <p:cNvPr id="6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0"/>
                </a:solidFill>
              </a:rPr>
              <a:t>Fontes: tarifas de broker e Variety via Goolets/12knots (anexo A3). Valores CONFIRMADOS por faixa; composição de APA, gorjetas e excursões = ESTIMATIVA.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de usados: nenhum navio de 72 pax à venda; os melhores negócios reais têm 36–60 pax por €7–8 M</a:t>
            </a:r>
            <a:endParaRPr lang="en-US" sz="2600" dirty="0"/>
          </a:p>
        </p:txBody>
      </p:sp>
      <p:graphicFrame>
        <p:nvGraphicFramePr>
          <p:cNvPr id="8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731520"/>
                <a:gridCol w="731520"/>
                <a:gridCol w="1188720"/>
                <a:gridCol w="1005840"/>
                <a:gridCol w="640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Anúncio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Bandeira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pedido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€/leito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#1048634 · Grécia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1995/2007/2025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49–50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Grécia / RINA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€7,0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€140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#1064418 · Grécia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Grécia / RINA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€8,0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€133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#1091239 · Brodosplit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Croácia / CRS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€8,3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€231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"Solas", veleiro de 210 pés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~64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n.i.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US$10,5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€254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on Waves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36–42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Malta / PRS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€17,5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€417–486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"Salty"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US$2,95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€34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Exploris One (leilão, jan/26)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€4,5 M (vendido)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€34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4" name="StatCard"/>
          <p:cNvSpPr/>
          <p:nvPr/>
        </p:nvSpPr>
        <p:spPr>
          <a:xfrm>
            <a:off x="8503920" y="132588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5" name="StatValue"/>
          <p:cNvSpPr txBox="1"/>
          <p:nvPr/>
        </p:nvSpPr>
        <p:spPr>
          <a:xfrm>
            <a:off x="8641080" y="14356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€130–270 k</a:t>
            </a:r>
            <a:endParaRPr lang="en-US" sz="3000" dirty="0"/>
          </a:p>
        </p:txBody>
      </p:sp>
      <p:sp>
        <p:nvSpPr>
          <p:cNvPr id="6" name="StatLabel"/>
          <p:cNvSpPr txBox="1"/>
          <p:nvPr/>
        </p:nvSpPr>
        <p:spPr>
          <a:xfrm>
            <a:off x="8641080" y="21671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55B"/>
                </a:solidFill>
              </a:rPr>
              <a:t>Faixa por leito para navios de 36–60 pax aptos ao Mediterrâneo</a:t>
            </a:r>
            <a:endParaRPr lang="en-US" sz="1200" dirty="0"/>
          </a:p>
        </p:txBody>
      </p:sp>
      <p:sp>
        <p:nvSpPr>
          <p:cNvPr id="7" name="StatCard"/>
          <p:cNvSpPr/>
          <p:nvPr/>
        </p:nvSpPr>
        <p:spPr>
          <a:xfrm>
            <a:off x="8503920" y="288036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8" name="StatValue"/>
          <p:cNvSpPr txBox="1"/>
          <p:nvPr/>
        </p:nvSpPr>
        <p:spPr>
          <a:xfrm>
            <a:off x="8641080" y="299008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€11,5 M</a:t>
            </a:r>
            <a:endParaRPr lang="en-US" sz="3000" dirty="0"/>
          </a:p>
        </p:txBody>
      </p:sp>
      <p:sp>
        <p:nvSpPr>
          <p:cNvPr id="9" name="StatLabel"/>
          <p:cNvSpPr txBox="1"/>
          <p:nvPr/>
        </p:nvSpPr>
        <p:spPr>
          <a:xfrm>
            <a:off x="8641080" y="37216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555B"/>
                </a:solidFill>
              </a:rPr>
              <a:t>Teto all-in do modelo para 72 pax a 30 semanas (≤ €2,2 M para 48 pax)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44348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Nenhum anúncio atual está abaixo do teto: a compra só se viabiliza como venda forçada.</a:t>
            </a:r>
            <a:endParaRPr lang="en-US" sz="1400" dirty="0"/>
          </a:p>
        </p:txBody>
      </p:sp>
      <p:sp>
        <p:nvSpPr>
          <p:cNvPr id="11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0"/>
                </a:solidFill>
              </a:rPr>
              <a:t>Fontes: ShipSelector/GRS, Apollo Duck, Northrop &amp; Johnson, cruiseindustrynews (anexo A1 / 05_Vessel_Market_Scan). Preços pedidos CONFIRMADOS; fotos nos links dos anúncios.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novo custa €47,7 M até a operação, mesmo na Turquia, a região mais competitiva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943600" y="1325880"/>
          <a:ext cx="56692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0"/>
                </a:solidFill>
              </a:rPr>
              <a:t>Base: €/leito de comparáveis CONFIRMADOS (Silver Origin €680 k, Coral Adventurer €568 k, Hondius €255–290 k, Voyager €403 k em 2012) × índice regional. *Vietnã/China sem a entrega (+€0,5–1 M). Contrato → entrega: 24–30 meses; decisão → 1ª temporada: 32–40 meses.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OPEX de ≈ €5,1–5,2 M por ano: dois terços são fixos e correm mesmo sem semanas vendidas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486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2120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 por semana (72 pax)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Combustível (25 t × US$1.000/t)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21.739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Alimentação de hóspedes (€55/pax-dia)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Consumíveis e lavanderia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Alimentação da tripulação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Lubrificantes, água e outros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por semana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0" y="42519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30"/>
                </a:solidFill>
              </a:rPr>
              <a:t>Tripulação de 28 pessoas: €1,59 M/ano (bandeira UE; bandeira grega +€0,2–0,4 M). MGO no Pireu: US$690/t (abr/26) → US$1.657/t (set/26). Taxas portuárias, taxa de cruzeiro grega e bebidas são repasse (APA).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de €6,7–7,5 M a 26 semanas, combinando semanas QIMO, charter de terceiros e venda de cabines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4937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71600"/>
          <a:ext cx="5852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Período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Abr–mai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Grécia: Cíclades e Peloponeso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Ombro: tarifas mais altas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Jun–meados de jul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Croácia, Montenegro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Dubrovnik isenta ≤ 500 pax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Meados de jul–ago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Jônicas, Sarônicas, Turquia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Meltemi; tarifa média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Cíclades, Dodecaneso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temporada de charter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Sicília, Eólias, Amalfi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de temporada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Nov–mar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Hibernação ou inverno contratado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Caribe coincide com a alta brasileira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760720" y="45262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</a:rPr>
              <a:t>Inverno: cada ida e volta custa 2–4 semanas e ≈ €0,1–0,2 M; com 10–12 semanas vendidas, gera +€1,3–1,7 M de margem. É a condição para a propriedade fazer sentido.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utilização decide tudo: abaixo de 16–18 semanas o EBITDA fica negativo, mesmo com navio de 72 pax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96012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usado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usado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novo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−€1,35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−€0,50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€0,42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€1,34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€2,26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€3,18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589520" y="43434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3A"/>
                </a:solidFill>
              </a:rPr>
              <a:t>Nem com 35 semanas a TIR alcança o hurdle de 10%.</a:t>
            </a:r>
            <a:endParaRPr lang="en-US" sz="1400" dirty="0"/>
          </a:p>
        </p:txBody>
      </p:sp>
      <p:sp>
        <p:nvSpPr>
          <p:cNvPr id="6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0"/>
                </a:solidFill>
              </a:rPr>
              <a:t>Ano de regime, € de 2026. TIR aproximada (fluxo constante + residual). A projeção completa está na aba Projecao.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cálculo-chave: possuir só fica mais barato que fretar acima de 32 semanas (usado) ou 42 (novo)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371600"/>
            <a:ext cx="3840480" cy="1737360"/>
          </a:xfrm>
          <a:prstGeom prst="roundRect">
            <a:avLst>
              <a:gd name="adj" fmla="val 4211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14630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w* = (OPEX fixo + custo de capital) ÷ (tarifa − variável/semana)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CE8EA"/>
                </a:solidFill>
              </a:rPr>
              <a:t>Usado: (3,45 + 3,42) ÷ (0,270 − 0,055) = 32 semanas · Novo: (3,39 + 6,80) ÷ (0,300 − 0,055) = 42 semanas</a:t>
            </a:r>
            <a:endParaRPr lang="en-US" sz="1400" dirty="0"/>
          </a:p>
        </p:txBody>
      </p:sp>
      <p:graphicFrame>
        <p:nvGraphicFramePr>
          <p:cNvPr id="13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333756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TIR de 10% a 28 semanas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Necessário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Tarifa, usado 72 pax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€301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€270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Tarifa, novo 72 pax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€419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€300 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máx., usado 72 pax (30 sem.)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€11,5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€21,4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máx., novo 72 pax (30 sem.)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€17,1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€47,7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0"/>
                </a:solidFill>
              </a:rPr>
              <a:t>Custo de capital = anuidade do CAPEX líquido do residual descontado (10%, 10 anos) + CAPEX médio de manutenção e docagens.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Projeção de 10 anos (usado, 72 pax, Base): EBITDA de ≈ €1,6 M por ano não remunera €21,4 M de capital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132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325880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(Base)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€21,4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€47,7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€6,7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€7,5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€1,6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€2,3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@10%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−€13,1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−€31,5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10a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ROIC 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 anos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 anos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a10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€10,7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€26,2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0"/>
                </a:solidFill>
              </a:rPr>
              <a:t>Docagens nos anos 3, 5, 8 e 10 e refurb de hotelaria no ano 6 explicam as quedas de FCL. Imposto de 34% (CFC Brasil) sobre EBIT positivo.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nenhuma das 18 combinações o VPL é positivo; o melhor caso entrega TIR de 7,5%</a:t>
            </a:r>
            <a:endParaRPr lang="en-US" sz="2600" dirty="0"/>
          </a:p>
        </p:txBody>
      </p:sp>
      <p:graphicFrame>
        <p:nvGraphicFramePr>
          <p:cNvPr id="15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  <a:gridCol w="1188720"/>
                <a:gridCol w="1188720"/>
                <a:gridCol w="1280160"/>
                <a:gridCol w="128016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Cons.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Otim.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Otim.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a3 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72 pax · novo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€47,7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−€31,5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−€19,7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€2,34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72 pax · usado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€21,4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+7,5%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−€13,1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−€2,8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€1,55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48 pax · novo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€31,9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−5,8%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−€27,2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−€18,3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€0,57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48 pax · usado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€10,6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−13,6%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+2,7%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−€10,9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−€3,9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€0,11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40 pax · novo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€27,4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−€27,2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−€19,1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−€0,12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36 pax · usado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€10,0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−€12,9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−€6,6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−€0,37 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Otimista = 30 semanas (12 QIMO), tarifa +10%, OPEX −5%, MGO a US$750/t e residual de 60–65%. Mesmo assim, só o usado de 72 pax se aproxima do hurdle.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Dívida não resolve: com DSCR de 0,3–0,6x, o projeto não paga o banco no cenário Base</a:t>
            </a:r>
            <a:endParaRPr lang="en-US" sz="2600" dirty="0"/>
          </a:p>
        </p:txBody>
      </p:sp>
      <p:graphicFrame>
        <p:nvGraphicFramePr>
          <p:cNvPr id="16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097280"/>
                <a:gridCol w="1371600"/>
                <a:gridCol w="1097280"/>
                <a:gridCol w="1188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 da dívida/ano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DSCR mínimo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do acionista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Usado 72 pax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equity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€21,4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€10,7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€1,44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€6,4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€2,01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0,41x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 72 pax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equity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€47,7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€23,9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€3,20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€14,3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€4,48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0,34x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0" y="1371600"/>
            <a:ext cx="3474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</a:rPr>
              <a:t>Como o mercado financia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</a:rPr>
              <a:t>Bancos gregos: LTV de ≈ 60%, spread de 1,5–1,9% para armadores estabelecidos (CONFIRMADO).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</a:rPr>
              <a:t>1º armador de nicho: LTV de 50–60%, EURIBOR + 300–450 bps, garantias (ESTIMATIVA).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</a:rPr>
              <a:t>Construção nova: ECA até 80% em 12 anos.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30"/>
                </a:solidFill>
              </a:rPr>
              <a:t>Modelo: 6,0% a.a., 10 anos, balloon de 30%; bancos exigem DSCR ≥ 1,2–1,3x.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× Build × Charter: o charter vence em risco, flexibilidade e custo até 32 semanas por ano</a:t>
            </a:r>
            <a:endParaRPr lang="en-US" sz="2600" dirty="0"/>
          </a:p>
        </p:txBody>
      </p:sp>
      <p:graphicFrame>
        <p:nvGraphicFramePr>
          <p:cNvPr id="17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83464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Comprar usado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Construir novo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 inicial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€21,4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€47,7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 (sinais de €0,7–1,1 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até a operação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9–15 meses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30–40 meses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Imediato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Médio-alto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 (ano 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€5,2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€5,1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tarifa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Flexibilidade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do produto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Médio-alto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externa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residual (a10)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€10,7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€26,2 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EBITDA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16–18 sem.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14–16 sem.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Possuir = fretar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sem.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sem.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10 anos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10 anos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−2,7%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riscos dominantes são de demanda, não de operação, e a estratégia gradual os testa antes do capital</a:t>
            </a:r>
            <a:endParaRPr lang="en-US" sz="2600" dirty="0"/>
          </a:p>
        </p:txBody>
      </p:sp>
      <p:graphicFrame>
        <p:nvGraphicFramePr>
          <p:cNvPr id="18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1188720"/>
                <a:gridCol w="57607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Ocupação &lt; 26 semanas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Charter em bloco para medir a demanda; programa de inverno contratado antes da compra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 abaixo do hurdle / financiamento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Teto de preço do modelo; alavancagem ≤ 40%; equity primeiro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Combustível (US$690–1.657/t em 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Média-alta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Cláusula de bunker; hedge; velocidade econômica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Câmbio BRL/€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Médio-alto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Precificar em €; hedge; receitas de terceiros em €/US$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Casco e retrofit (usado)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Inspeção com classe; docagem antes do fechamento; contingência de 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Geopolítica (Mar Vermelho, Turquia)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 o Mar Vermelho; seguro de guerra; rotas flexíveis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Estaleiro (atraso ou falência)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guarantee; estaleiro com histórico SOLAS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Regulação (cabotagem, taxas, portos)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Bandeira UE; portos alternativos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Acidente / responsabilidade civil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P&amp;I de clube IG; Atenas/PLR; 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gradual: capturar já o valor de produto e marca; comprar só quando os gatilhos forem atingidos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5A"/>
                </a:solidFill>
              </a:rPr>
              <a:t>Fase 1 · 2027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Charter spot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231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Full charter Variety-class com conteúdo e equipe QIMO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€0 CAPEX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89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DCE8EA"/>
                </a:solidFill>
              </a:rPr>
              <a:t>Gatilho: ≥ 6 semanas vendidas com margem-alvo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3716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47872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5A"/>
                </a:solidFill>
              </a:rPr>
              <a:t>Fase 2 · 2028–29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Bloco plurianual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4231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8–12 semanas/ano por 3 anos, −10–20%, branding; co-investir em refit por exclusividade (precedente MV Aretis)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€0–2 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4389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DCE8EA"/>
                </a:solidFill>
              </a:rPr>
              <a:t>Gatilho: ≥ 12 semanas QIMO por 2 anos + ≥ 18 semanas de terceiros/inverno pré-vendidas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81344" y="13716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5A"/>
                </a:solidFill>
              </a:rPr>
              <a:t>Fase 3 · 2030+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Usado oportunista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4231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30"/>
                </a:solidFill>
              </a:rPr>
              <a:t>60–72 pax, bandeira UE, venda forçada, gestor técnico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≤ €11,5 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64224" y="4389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5555B"/>
                </a:solidFill>
              </a:rPr>
              <a:t>Gatilho: ≥ 32 semanas contratadas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97696" y="1371600"/>
            <a:ext cx="2651760" cy="4206240"/>
          </a:xfrm>
          <a:prstGeom prst="roundRect">
            <a:avLst>
              <a:gd name="adj" fmla="val 275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80576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975A"/>
                </a:solidFill>
              </a:rPr>
              <a:t>Fase 4 · ≥ 2032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80576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QIMO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9180576" y="24231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30"/>
                </a:solidFill>
              </a:rPr>
              <a:t>Somente com ≥ 40 semanas ou tarifa ≥ €420 k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180576" y="3931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€45–50 M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80576" y="43891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45555B"/>
                </a:solidFill>
              </a:rPr>
              <a:t>Gatilho: 2–3 anos da Fase 3</a:t>
            </a:r>
            <a:endParaRPr lang="en-US" sz="1150" dirty="0"/>
          </a:p>
        </p:txBody>
      </p:sp>
      <p:sp>
        <p:nvSpPr>
          <p:cNvPr id="27" name="Source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B80"/>
                </a:solidFill>
              </a:rPr>
              <a:t>Reduz o risco: converte a incógnita principal (semanas reais da QIMO) em dado antes de imobilizar capital, e preserva a opção de comprar barato em vendas forçadas.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preliminar: bandeira UE, SPV isolada e gestor técnico terceirizado; a CFC brasileira neutraliza a tonnage tax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EEF3F4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325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0"/>
                </a:solidFill>
              </a:rPr>
              <a:t>QIMO Brasil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1B2A30"/>
                </a:solidFill>
              </a:rPr>
              <a:t>Vende aos clientes; contrata semanas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834640" y="2148840"/>
            <a:ext cx="0" cy="274320"/>
          </a:xfrm>
          <a:prstGeom prst="line">
            <a:avLst/>
          </a:prstGeom>
          <a:noFill/>
          <a:ln w="1905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31520" y="242316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EEF3F4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23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0"/>
                </a:solidFill>
              </a:rPr>
              <a:t>HoldCo UE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1B2A30"/>
                </a:solidFill>
              </a:rPr>
              <a:t>Portugal (tratado) ou Malta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34640" y="3246120"/>
            <a:ext cx="0" cy="274320"/>
          </a:xfrm>
          <a:prstGeom prst="line">
            <a:avLst/>
          </a:prstGeom>
          <a:noFill/>
          <a:ln w="1905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352044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5204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SPV armadora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Malta ou Madeira-MAR · bandeira UE · hipoteca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34640" y="4343400"/>
            <a:ext cx="0" cy="274320"/>
          </a:xfrm>
          <a:prstGeom prst="line">
            <a:avLst/>
          </a:prstGeom>
          <a:noFill/>
          <a:ln w="19050">
            <a:solidFill>
              <a:srgbClr val="0B3C4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461772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EEF3F4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617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0"/>
                </a:solidFill>
              </a:rPr>
              <a:t>OpCo UE (afretadora)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1B2A30"/>
                </a:solidFill>
              </a:rPr>
              <a:t>Bareboat da SPV; vende semanas à QIMO e a terceiros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669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C49"/>
                </a:solidFill>
              </a:rPr>
              <a:t>+ Gestor técnico ISM/DOC (Grécia, Malta ou Chipre)</a:t>
            </a:r>
            <a:endParaRPr lang="en-US" sz="1200" dirty="0"/>
          </a:p>
        </p:txBody>
      </p:sp>
      <p:graphicFrame>
        <p:nvGraphicFramePr>
          <p:cNvPr id="20" name="Data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325880"/>
          <a:ext cx="62179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validar com advogado e tributarista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CFC (Lei 12.973): 34% no Brasil sobre o lucro da controlada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regimes privilegiados (IN RFB 2.265/2025): Malta ITC/IHC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Cabotagem: bandeira UE na Grécia, Croácia e Itália (Reg. 3577/92)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pax = navio SOLAS; ≤ 49 pax = iate profissional grego?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Tonnage tax de Malta: renovação após 2027/28; limite de receita acessória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 de cruzeiro doméstico grego; TOMS para pacotes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Atenas/PLR: 250 k SDR por pax; CDC e Cadastur na venda no Brasil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75A"/>
                </a:solidFill>
              </a:rPr>
              <a:t>Recomendação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 CHARTERING · compra de usado com gatilhos · não construir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975A"/>
                </a:solidFill>
              </a:rPr>
              <a:t>Próximos 90 dias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</a:rPr>
              <a:t>Medir a demanda real: pipeline QIMO 2027–29 em semanas, o principal driver do modelo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</a:rPr>
              <a:t>Negociar com a Variety (e com Blue Zephyr ou operador croata) um bloco de 8–12 semanas/ano por 3 anos, com desconto e branding QIMO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</a:rPr>
              <a:t>Mandatar um broker para uma watchlist de vendas forçadas de 60–80 pax, com teto de €11,5 M all-in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</a:rPr>
              <a:t>Pré-estudo jurídico-tributário (CFC, bandeira, cabotagem): €15–30 k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</a:rPr>
              <a:t>Grupo piloto de inverno (Caribe ou Seychelles) em navio fretado, para validar a alta temporada brasileira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0" y="178308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134A58"/>
          </a:solidFill>
          <a:ln w="12700">
            <a:solidFill>
              <a:srgbClr val="134A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0" y="192024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975A"/>
                </a:solidFill>
              </a:rPr>
              <a:t>Decisão pedida ao IC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Aprovar a Fase 2 (negociação de bloco plurianual) e o orçamento do pré-estudo.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8975A"/>
                </a:solidFill>
              </a:rPr>
              <a:t>Rever a compra quando houver: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≥ 12 semanas QIMO por 2 anos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≥ 32 semanas contratadas, com inverno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Navio de 60–72 pax por ≤ €11,5 M all-in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DB8B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IMO Aegean">
  <a:themeElements>
    <a:clrScheme name="QIMO Aegean">
      <a:dk1>
        <a:srgbClr val="1B2A30"/>
      </a:dk1>
      <a:lt1>
        <a:srgbClr val="FFFFFF"/>
      </a:lt1>
      <a:dk2>
        <a:srgbClr val="0B3C49"/>
      </a:dk2>
      <a:lt2>
        <a:srgbClr val="EEF3F4"/>
      </a:lt2>
      <a:accent1>
        <a:srgbClr val="0B3C49"/>
      </a:accent1>
      <a:accent2>
        <a:srgbClr val="B8975A"/>
      </a:accent2>
      <a:accent3>
        <a:srgbClr val="5E8C96"/>
      </a:accent3>
      <a:accent4>
        <a:srgbClr val="C0503A"/>
      </a:accent4>
      <a:accent5>
        <a:srgbClr val="9DB8BE"/>
      </a:accent5>
      <a:accent6>
        <a:srgbClr val="2E6B5E"/>
      </a:accent6>
      <a:hlink>
        <a:srgbClr val="0B3C49"/>
      </a:hlink>
      <a:folHlink>
        <a:srgbClr val="5E8C96"/>
      </a:folHlink>
    </a:clrScheme>
    <a:fontScheme name="QIMO Aege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QIMO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QIMO · Navio boutique próprio · Investment Committee</dc:title>
  <dc:subject>PptxGenJS Presentation</dc:subject>
  <dc:creator>PptxGenJS</dc:creator>
  <cp:lastModifiedBy>PptxGenJS</cp:lastModifiedBy>
  <cp:revision>1</cp:revision>
  <dcterms:created xsi:type="dcterms:W3CDTF">2026-10-07T12:57:50Z</dcterms:created>
  <dcterms:modified xsi:type="dcterms:W3CDTF">2026-10-07T12:57:50Z</dcterms:modified>
</cp:coreProperties>
</file>